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5C2354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5C235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2024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DESIGN THINKING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4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point into Design-Led: Practitioner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5852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B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Jacinta McMahon  ·  by Frankly Human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time. Under budget. Still wrong.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2011680"/>
            <a:ext cx="10698480" cy="3108960"/>
          </a:xfrm>
          <a:prstGeom prst="roundRect">
            <a:avLst>
              <a:gd name="adj" fmla="val 3529"/>
            </a:avLst>
          </a:prstGeom>
          <a:solidFill>
            <a:srgbClr val="FAF6F0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188720" y="2377440"/>
            <a:ext cx="97840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product team shipped a new onboarding flow.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time. Under budget.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Drop-off at step 2 was 34% worse.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84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had asked why.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Diagnostic Gives You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3291840" cy="384048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20240" y="2011680"/>
            <a:ext cx="1097280" cy="1097280"/>
          </a:xfrm>
          <a:prstGeom prst="ellipse">
            <a:avLst/>
          </a:prstGeom>
          <a:solidFill>
            <a:srgbClr val="FAF6F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7128" y="2258568"/>
            <a:ext cx="603504" cy="6035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33832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LENS SCORE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97280" y="39776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your last real project skipped Desirable, Viable, or Feasible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34840" y="1737360"/>
            <a:ext cx="3291840" cy="384048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532120" y="2011680"/>
            <a:ext cx="1097280" cy="1097280"/>
          </a:xfrm>
          <a:prstGeom prst="ellipse">
            <a:avLst/>
          </a:prstGeom>
          <a:solidFill>
            <a:srgbClr val="FAF6F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2258568"/>
            <a:ext cx="603504" cy="6035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33832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MINDSET GAP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709160" y="39776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design mindset hardest to practise in your organisation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046720" y="1737360"/>
            <a:ext cx="3291840" cy="384048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144000" y="2011680"/>
            <a:ext cx="1097280" cy="1097280"/>
          </a:xfrm>
          <a:prstGeom prst="ellipse">
            <a:avLst/>
          </a:prstGeom>
          <a:solidFill>
            <a:srgbClr val="FAF6F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888" y="2258568"/>
            <a:ext cx="603504" cy="60350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9600" y="33832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PATTERN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321040" y="39776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named Design Influence Profile — specific, not generic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1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Lives In Three Lenses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4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your last real project against each one.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2468880"/>
            <a:ext cx="3017520" cy="2651760"/>
          </a:xfrm>
          <a:prstGeom prst="roundRect">
            <a:avLst>
              <a:gd name="adj" fmla="val 5172"/>
            </a:avLst>
          </a:prstGeom>
          <a:solidFill>
            <a:srgbClr val="5C2354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743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4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DESIRABLE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33832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anyone actually want this?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2468880"/>
            <a:ext cx="3017520" cy="2651760"/>
          </a:xfrm>
          <a:prstGeom prst="roundRect">
            <a:avLst>
              <a:gd name="adj" fmla="val 5172"/>
            </a:avLst>
          </a:prstGeom>
          <a:solidFill>
            <a:srgbClr val="5C235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2743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4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VIABLE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46320" y="33832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work commercially?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2468880"/>
            <a:ext cx="3017520" cy="2651760"/>
          </a:xfrm>
          <a:prstGeom prst="roundRect">
            <a:avLst>
              <a:gd name="adj" fmla="val 5172"/>
            </a:avLst>
          </a:prstGeom>
          <a:solidFill>
            <a:srgbClr val="5C2354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0" y="2743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4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FEASIBLE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321040" y="33832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it actually be built?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did the lens get skipped?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9319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A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who skipped it — you, or the system around you?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Six Design Mindsets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is hardest to practise in your organisation?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3291840" cy="1920240"/>
          </a:xfrm>
          <a:prstGeom prst="roundRect">
            <a:avLst>
              <a:gd name="adj" fmla="val 4762"/>
            </a:avLst>
          </a:prstGeom>
          <a:solidFill>
            <a:srgbClr val="4A1942"/>
          </a:solidFill>
          <a:ln/>
        </p:spPr>
      </p:sp>
      <p:sp>
        <p:nvSpPr>
          <p:cNvPr id="5" name="Shape 3"/>
          <p:cNvSpPr/>
          <p:nvPr/>
        </p:nvSpPr>
        <p:spPr>
          <a:xfrm>
            <a:off x="2034540" y="2125980"/>
            <a:ext cx="777240" cy="777240"/>
          </a:xfrm>
          <a:prstGeom prst="ellipse">
            <a:avLst/>
          </a:prstGeom>
          <a:solidFill>
            <a:srgbClr val="5C235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9419" y="230085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0632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Empathy First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97680" y="1828800"/>
            <a:ext cx="3291840" cy="1920240"/>
          </a:xfrm>
          <a:prstGeom prst="roundRect">
            <a:avLst>
              <a:gd name="adj" fmla="val 4762"/>
            </a:avLst>
          </a:prstGeom>
          <a:solidFill>
            <a:srgbClr val="4A1942"/>
          </a:solidFill>
          <a:ln/>
        </p:spPr>
      </p:sp>
      <p:sp>
        <p:nvSpPr>
          <p:cNvPr id="9" name="Shape 6"/>
          <p:cNvSpPr/>
          <p:nvPr/>
        </p:nvSpPr>
        <p:spPr>
          <a:xfrm>
            <a:off x="5554980" y="2125980"/>
            <a:ext cx="777240" cy="777240"/>
          </a:xfrm>
          <a:prstGeom prst="ellipse">
            <a:avLst/>
          </a:prstGeom>
          <a:solidFill>
            <a:srgbClr val="5C235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9859" y="2300859"/>
            <a:ext cx="427482" cy="42748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34840" y="30632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Thinking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818120" y="1828800"/>
            <a:ext cx="3291840" cy="1920240"/>
          </a:xfrm>
          <a:prstGeom prst="roundRect">
            <a:avLst>
              <a:gd name="adj" fmla="val 4762"/>
            </a:avLst>
          </a:prstGeom>
          <a:solidFill>
            <a:srgbClr val="4A1942"/>
          </a:solidFill>
          <a:ln/>
        </p:spPr>
      </p:sp>
      <p:sp>
        <p:nvSpPr>
          <p:cNvPr id="13" name="Shape 9"/>
          <p:cNvSpPr/>
          <p:nvPr/>
        </p:nvSpPr>
        <p:spPr>
          <a:xfrm>
            <a:off x="9075420" y="2125980"/>
            <a:ext cx="777240" cy="777240"/>
          </a:xfrm>
          <a:prstGeom prst="ellipse">
            <a:avLst/>
          </a:prstGeom>
          <a:solidFill>
            <a:srgbClr val="5C2354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0299" y="2300859"/>
            <a:ext cx="427482" cy="42748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955280" y="30632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to Action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777240" y="3977640"/>
            <a:ext cx="3291840" cy="1920240"/>
          </a:xfrm>
          <a:prstGeom prst="roundRect">
            <a:avLst>
              <a:gd name="adj" fmla="val 4762"/>
            </a:avLst>
          </a:prstGeom>
          <a:solidFill>
            <a:srgbClr val="4A1942"/>
          </a:solidFill>
          <a:ln/>
        </p:spPr>
      </p:sp>
      <p:sp>
        <p:nvSpPr>
          <p:cNvPr id="17" name="Shape 12"/>
          <p:cNvSpPr/>
          <p:nvPr/>
        </p:nvSpPr>
        <p:spPr>
          <a:xfrm>
            <a:off x="2034540" y="4274820"/>
            <a:ext cx="777240" cy="777240"/>
          </a:xfrm>
          <a:prstGeom prst="ellipse">
            <a:avLst/>
          </a:prstGeom>
          <a:solidFill>
            <a:srgbClr val="5C2354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419" y="4449699"/>
            <a:ext cx="427482" cy="42748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4400" y="52120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Embrace Ambiguity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297680" y="3977640"/>
            <a:ext cx="3291840" cy="1920240"/>
          </a:xfrm>
          <a:prstGeom prst="roundRect">
            <a:avLst>
              <a:gd name="adj" fmla="val 4762"/>
            </a:avLst>
          </a:prstGeom>
          <a:solidFill>
            <a:srgbClr val="4A1942"/>
          </a:solidFill>
          <a:ln/>
        </p:spPr>
      </p:sp>
      <p:sp>
        <p:nvSpPr>
          <p:cNvPr id="21" name="Shape 15"/>
          <p:cNvSpPr/>
          <p:nvPr/>
        </p:nvSpPr>
        <p:spPr>
          <a:xfrm>
            <a:off x="5554980" y="4274820"/>
            <a:ext cx="777240" cy="777240"/>
          </a:xfrm>
          <a:prstGeom prst="ellipse">
            <a:avLst/>
          </a:prstGeom>
          <a:solidFill>
            <a:srgbClr val="5C2354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9859" y="4449699"/>
            <a:ext cx="427482" cy="42748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434840" y="52120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Always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7818120" y="3977640"/>
            <a:ext cx="3291840" cy="1920240"/>
          </a:xfrm>
          <a:prstGeom prst="roundRect">
            <a:avLst>
              <a:gd name="adj" fmla="val 4762"/>
            </a:avLst>
          </a:prstGeom>
          <a:solidFill>
            <a:srgbClr val="4A1942"/>
          </a:solidFill>
          <a:ln/>
        </p:spPr>
      </p:sp>
      <p:sp>
        <p:nvSpPr>
          <p:cNvPr id="25" name="Shape 18"/>
          <p:cNvSpPr/>
          <p:nvPr/>
        </p:nvSpPr>
        <p:spPr>
          <a:xfrm>
            <a:off x="9075420" y="4274820"/>
            <a:ext cx="777240" cy="777240"/>
          </a:xfrm>
          <a:prstGeom prst="ellipse">
            <a:avLst/>
          </a:prstGeom>
          <a:solidFill>
            <a:srgbClr val="5C2354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0299" y="4449699"/>
            <a:ext cx="427482" cy="42748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955280" y="52120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Communicate Intent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4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INFLUENCE BREAKS DOWN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Moment. What Did You Do?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1069848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2240280"/>
            <a:ext cx="97840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one moment recently where this played out?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you do? What did you want to do?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the cost of that gap — to the project, the team, or you?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Design Influence Profile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category. A diagnosis.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10698480" cy="1737360"/>
          </a:xfrm>
          <a:prstGeom prst="roundRect">
            <a:avLst>
              <a:gd name="adj" fmla="val 6316"/>
            </a:avLst>
          </a:prstGeom>
          <a:solidFill>
            <a:srgbClr val="4A1942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194560"/>
            <a:ext cx="9966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“Strong on craft, invisible at the strategy table.”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10698480" cy="1737360"/>
          </a:xfrm>
          <a:prstGeom prst="roundRect">
            <a:avLst>
              <a:gd name="adj" fmla="val 6316"/>
            </a:avLst>
          </a:prstGeom>
          <a:solidFill>
            <a:srgbClr val="FAF6F0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4114800"/>
            <a:ext cx="9966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“Your team is a feature factory, and you know it.”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A1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5C235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7744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changes,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nothing changes.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4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is true for how your organisation sees you.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Design-Led: Practitioner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half-day modules. From Foundations to Capstone.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228600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4A1942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" y="2286000"/>
            <a:ext cx="18196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907792" y="228600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4A1942"/>
          </a:solidFill>
          <a:ln/>
        </p:spPr>
      </p:sp>
      <p:sp>
        <p:nvSpPr>
          <p:cNvPr id="7" name="Text 5"/>
          <p:cNvSpPr/>
          <p:nvPr/>
        </p:nvSpPr>
        <p:spPr>
          <a:xfrm>
            <a:off x="2980944" y="2286000"/>
            <a:ext cx="18196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38344" y="228600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4A1942"/>
          </a:solidFill>
          <a:ln/>
        </p:spPr>
      </p:sp>
      <p:sp>
        <p:nvSpPr>
          <p:cNvPr id="9" name="Text 7"/>
          <p:cNvSpPr/>
          <p:nvPr/>
        </p:nvSpPr>
        <p:spPr>
          <a:xfrm>
            <a:off x="5111496" y="2286000"/>
            <a:ext cx="18196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168896" y="228600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4A1942"/>
          </a:solidFill>
          <a:ln/>
        </p:spPr>
      </p:sp>
      <p:sp>
        <p:nvSpPr>
          <p:cNvPr id="11" name="Text 9"/>
          <p:cNvSpPr/>
          <p:nvPr/>
        </p:nvSpPr>
        <p:spPr>
          <a:xfrm>
            <a:off x="7242048" y="2286000"/>
            <a:ext cx="18196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299448" y="228600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4A1942"/>
          </a:solidFill>
          <a:ln/>
        </p:spPr>
      </p:sp>
      <p:sp>
        <p:nvSpPr>
          <p:cNvPr id="13" name="Text 11"/>
          <p:cNvSpPr/>
          <p:nvPr/>
        </p:nvSpPr>
        <p:spPr>
          <a:xfrm>
            <a:off x="9372600" y="2286000"/>
            <a:ext cx="18196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3227832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4A1942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" y="3227832"/>
            <a:ext cx="18196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DevEx &amp; Intelligence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907792" y="3227832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4A1942"/>
          </a:solidFill>
          <a:ln/>
        </p:spPr>
      </p:sp>
      <p:sp>
        <p:nvSpPr>
          <p:cNvPr id="17" name="Text 15"/>
          <p:cNvSpPr/>
          <p:nvPr/>
        </p:nvSpPr>
        <p:spPr>
          <a:xfrm>
            <a:off x="2980944" y="3227832"/>
            <a:ext cx="18196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Design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38344" y="3227832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4A1942"/>
          </a:solidFill>
          <a:ln/>
        </p:spPr>
      </p:sp>
      <p:sp>
        <p:nvSpPr>
          <p:cNvPr id="19" name="Text 17"/>
          <p:cNvSpPr/>
          <p:nvPr/>
        </p:nvSpPr>
        <p:spPr>
          <a:xfrm>
            <a:off x="5111496" y="3227832"/>
            <a:ext cx="18196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Arch.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68896" y="3227832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4A1942"/>
          </a:solidFill>
          <a:ln/>
        </p:spPr>
      </p:sp>
      <p:sp>
        <p:nvSpPr>
          <p:cNvPr id="21" name="Text 19"/>
          <p:cNvSpPr/>
          <p:nvPr/>
        </p:nvSpPr>
        <p:spPr>
          <a:xfrm>
            <a:off x="7242048" y="3227832"/>
            <a:ext cx="18196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UI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299448" y="3227832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4A1942"/>
          </a:solidFill>
          <a:ln/>
        </p:spPr>
      </p:sp>
      <p:sp>
        <p:nvSpPr>
          <p:cNvPr id="23" name="Text 21"/>
          <p:cNvSpPr/>
          <p:nvPr/>
        </p:nvSpPr>
        <p:spPr>
          <a:xfrm>
            <a:off x="9372600" y="3227832"/>
            <a:ext cx="18196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AI-Era Design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7240" y="4169664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4A1942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" y="4169664"/>
            <a:ext cx="18196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Decisions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907792" y="4169664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4A1942"/>
          </a:solidFill>
          <a:ln/>
        </p:spPr>
      </p:sp>
      <p:sp>
        <p:nvSpPr>
          <p:cNvPr id="27" name="Text 25"/>
          <p:cNvSpPr/>
          <p:nvPr/>
        </p:nvSpPr>
        <p:spPr>
          <a:xfrm>
            <a:off x="2980944" y="4169664"/>
            <a:ext cx="18196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Judgment in Practice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38344" y="4169664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4A1942"/>
          </a:solidFill>
          <a:ln/>
        </p:spPr>
      </p:sp>
      <p:sp>
        <p:nvSpPr>
          <p:cNvPr id="29" name="Text 27"/>
          <p:cNvSpPr/>
          <p:nvPr/>
        </p:nvSpPr>
        <p:spPr>
          <a:xfrm>
            <a:off x="5111496" y="4169664"/>
            <a:ext cx="18196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Grab a personal consult with Jac  →  franklyjac.live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Design Thinking Diagnostic</dc:title>
  <dc:subject>PptxGenJS Presentation</dc:subject>
  <dc:creator>Jacinta McMahon</dc:creator>
  <cp:lastModifiedBy>Jacinta McMahon</cp:lastModifiedBy>
  <cp:revision>1</cp:revision>
  <dcterms:created xsi:type="dcterms:W3CDTF">2026-07-03T06:44:10Z</dcterms:created>
  <dcterms:modified xsi:type="dcterms:W3CDTF">2026-07-03T06:44:10Z</dcterms:modified>
</cp:coreProperties>
</file>