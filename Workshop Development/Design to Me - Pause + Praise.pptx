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692000" cx="1512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A4A3A4"/>
          </p15:clr>
        </p15:guide>
        <p15:guide id="2" pos="47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476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762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0e541861d4_3_1900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0e541861d4_3_1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0e541861d4_3_1896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0e541861d4_3_1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AS POETRY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https://ggia.berkeley.edu/practice/loving_kindness_meditation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0e541861d4_3_1605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0e541861d4_3_1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0e541861d4_3_1632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0e541861d4_3_1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009ce78c95_0_56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009ce78c9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0e541861d4_3_1268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0e541861d4_3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0e541861d4_3_1455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0e541861d4_3_1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e541861d4_3_1460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0e541861d4_3_1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15409" y="5891409"/>
            <a:ext cx="14089200" cy="1647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15409" y="4471058"/>
            <a:ext cx="14089200" cy="17499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15409" y="2395696"/>
            <a:ext cx="14089200" cy="7101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15409" y="2395696"/>
            <a:ext cx="6614100" cy="7101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7990583" y="2395696"/>
            <a:ext cx="6614100" cy="7101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15409" y="1154948"/>
            <a:ext cx="4643100" cy="15708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15409" y="2888617"/>
            <a:ext cx="4643100" cy="66090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10650" y="935745"/>
            <a:ext cx="10529400" cy="85038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2pPr>
            <a:lvl3pPr lvl="2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3pPr>
            <a:lvl4pPr lvl="3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4pPr>
            <a:lvl5pPr lvl="4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5pPr>
            <a:lvl6pPr lvl="5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6pPr>
            <a:lvl7pPr lvl="6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7pPr>
            <a:lvl8pPr lvl="7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8pPr>
            <a:lvl9pPr lvl="8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560000" y="-260"/>
            <a:ext cx="756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4125" lIns="164125" spcFirstLastPara="1" rIns="164125" wrap="square" tIns="16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39016" y="2563450"/>
            <a:ext cx="6688800" cy="30813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39016" y="5826865"/>
            <a:ext cx="6688800" cy="2567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167677" y="1505164"/>
            <a:ext cx="6344700" cy="76812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15409" y="8794266"/>
            <a:ext cx="9919200" cy="12579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15409" y="2299346"/>
            <a:ext cx="14089200" cy="40815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15409" y="6552657"/>
            <a:ext cx="14089200" cy="2703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431800" lvl="0" marL="4572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5409" y="2395696"/>
            <a:ext cx="140892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431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●"/>
              <a:defRPr sz="3200">
                <a:solidFill>
                  <a:schemeClr val="dk2"/>
                </a:solidFill>
              </a:defRPr>
            </a:lvl1pPr>
            <a:lvl2pPr indent="-3873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2pPr>
            <a:lvl3pPr indent="-3873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3pPr>
            <a:lvl4pPr indent="-3873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4pPr>
            <a:lvl5pPr indent="-3873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5pPr>
            <a:lvl6pPr indent="-3873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6pPr>
            <a:lvl7pPr indent="-3873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7pPr>
            <a:lvl8pPr indent="-3873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8pPr>
            <a:lvl9pPr indent="-3873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 algn="r">
              <a:buNone/>
              <a:defRPr sz="1800">
                <a:solidFill>
                  <a:schemeClr val="dk2"/>
                </a:solidFill>
              </a:defRPr>
            </a:lvl1pPr>
            <a:lvl2pPr lvl="1" algn="r">
              <a:buNone/>
              <a:defRPr sz="1800">
                <a:solidFill>
                  <a:schemeClr val="dk2"/>
                </a:solidFill>
              </a:defRPr>
            </a:lvl2pPr>
            <a:lvl3pPr lvl="2" algn="r">
              <a:buNone/>
              <a:defRPr sz="1800">
                <a:solidFill>
                  <a:schemeClr val="dk2"/>
                </a:solidFill>
              </a:defRPr>
            </a:lvl3pPr>
            <a:lvl4pPr lvl="3" algn="r">
              <a:buNone/>
              <a:defRPr sz="1800">
                <a:solidFill>
                  <a:schemeClr val="dk2"/>
                </a:solidFill>
              </a:defRPr>
            </a:lvl4pPr>
            <a:lvl5pPr lvl="4" algn="r">
              <a:buNone/>
              <a:defRPr sz="1800">
                <a:solidFill>
                  <a:schemeClr val="dk2"/>
                </a:solidFill>
              </a:defRPr>
            </a:lvl5pPr>
            <a:lvl6pPr lvl="5" algn="r">
              <a:buNone/>
              <a:defRPr sz="1800">
                <a:solidFill>
                  <a:schemeClr val="dk2"/>
                </a:solidFill>
              </a:defRPr>
            </a:lvl6pPr>
            <a:lvl7pPr lvl="6" algn="r">
              <a:buNone/>
              <a:defRPr sz="1800">
                <a:solidFill>
                  <a:schemeClr val="dk2"/>
                </a:solidFill>
              </a:defRPr>
            </a:lvl7pPr>
            <a:lvl8pPr lvl="7" algn="r">
              <a:buNone/>
              <a:defRPr sz="1800">
                <a:solidFill>
                  <a:schemeClr val="dk2"/>
                </a:solidFill>
              </a:defRPr>
            </a:lvl8pPr>
            <a:lvl9pPr lvl="8" algn="r">
              <a:buNone/>
              <a:defRPr sz="1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15409" y="1547778"/>
            <a:ext cx="14089200" cy="51597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Pause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000" y="316800"/>
            <a:ext cx="14462531" cy="800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[Role models]</a:t>
            </a:r>
            <a:endParaRPr/>
          </a:p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515409" y="5891409"/>
            <a:ext cx="14089200" cy="1647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Be curious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1" name="Google Shape;71;p16"/>
          <p:cNvSpPr txBox="1"/>
          <p:nvPr>
            <p:ph idx="1" type="subTitle"/>
          </p:nvPr>
        </p:nvSpPr>
        <p:spPr>
          <a:xfrm>
            <a:off x="515409" y="5891409"/>
            <a:ext cx="14089200" cy="3275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 fontScale="92500" lnSpcReduction="20000"/>
          </a:bodyPr>
          <a:lstStyle/>
          <a:p>
            <a:pPr indent="-712787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>
                <a:solidFill>
                  <a:srgbClr val="FFFFFF"/>
                </a:solidFill>
              </a:rPr>
              <a:t>What behaviours, mindsets or moments inspire you as you’re observing people in your life?</a:t>
            </a:r>
            <a:endParaRPr>
              <a:solidFill>
                <a:srgbClr val="FFFFFF"/>
              </a:solidFill>
            </a:endParaRPr>
          </a:p>
          <a:p>
            <a:pPr indent="-712787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>
                <a:solidFill>
                  <a:srgbClr val="FFFFFF"/>
                </a:solidFill>
              </a:rPr>
              <a:t>Why do they get your attention?</a:t>
            </a:r>
            <a:endParaRPr>
              <a:solidFill>
                <a:srgbClr val="FFFFFF"/>
              </a:solidFill>
            </a:endParaRPr>
          </a:p>
          <a:p>
            <a:pPr indent="-712787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>
                <a:solidFill>
                  <a:srgbClr val="FFFFFF"/>
                </a:solidFill>
              </a:rPr>
              <a:t>What about them would you like to strengthen in yourself?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Super You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515409" y="5891409"/>
            <a:ext cx="14089200" cy="3275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 fontScale="92500" lnSpcReduction="20000"/>
          </a:bodyPr>
          <a:lstStyle/>
          <a:p>
            <a:pPr indent="-712787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>
                <a:solidFill>
                  <a:srgbClr val="FFFFFF"/>
                </a:solidFill>
              </a:rPr>
              <a:t>Get feedback on what your assets are?</a:t>
            </a:r>
            <a:endParaRPr>
              <a:solidFill>
                <a:srgbClr val="FFFFFF"/>
              </a:solidFill>
            </a:endParaRPr>
          </a:p>
          <a:p>
            <a:pPr indent="-712787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>
                <a:solidFill>
                  <a:srgbClr val="FFFFFF"/>
                </a:solidFill>
              </a:rPr>
              <a:t>Which ones are most important? Unique? Memorable?</a:t>
            </a:r>
            <a:endParaRPr>
              <a:solidFill>
                <a:srgbClr val="FFFFFF"/>
              </a:solidFill>
            </a:endParaRPr>
          </a:p>
          <a:p>
            <a:pPr indent="-712787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>
                <a:solidFill>
                  <a:srgbClr val="FFFFFF"/>
                </a:solidFill>
              </a:rPr>
              <a:t>Which assets are most valuable?</a:t>
            </a:r>
            <a:endParaRPr>
              <a:solidFill>
                <a:srgbClr val="FFFFFF"/>
              </a:solidFill>
            </a:endParaRPr>
          </a:p>
          <a:p>
            <a:pPr indent="-712787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>
                <a:solidFill>
                  <a:srgbClr val="FFFFFF"/>
                </a:solidFill>
              </a:rPr>
              <a:t>Which are most supportive of your values?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640" y="839057"/>
            <a:ext cx="11340000" cy="6378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156" y="2015053"/>
            <a:ext cx="11340000" cy="6378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429" y="3125204"/>
            <a:ext cx="11340000" cy="6378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[My top values]</a:t>
            </a:r>
            <a:endParaRPr/>
          </a:p>
        </p:txBody>
      </p:sp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515409" y="5891409"/>
            <a:ext cx="14089200" cy="1647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[prioritisation matrix - value &amp; importance]</a:t>
            </a:r>
            <a:endParaRPr/>
          </a:p>
        </p:txBody>
      </p:sp>
      <p:sp>
        <p:nvSpPr>
          <p:cNvPr id="96" name="Google Shape;96;p20"/>
          <p:cNvSpPr txBox="1"/>
          <p:nvPr>
            <p:ph idx="1" type="subTitle"/>
          </p:nvPr>
        </p:nvSpPr>
        <p:spPr>
          <a:xfrm>
            <a:off x="515409" y="5891409"/>
            <a:ext cx="14089200" cy="1647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