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692000" cx="1512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A4A3A4"/>
          </p15:clr>
        </p15:guide>
        <p15:guide id="2" pos="47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476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762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owtoreframe.wordpress.com/resources/a-guide-to-questionstorming/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elf-compassion.org/category/exercises/#" TargetMode="External"/><Relationship Id="rId3" Type="http://schemas.openxmlformats.org/officeDocument/2006/relationships/hyperlink" Target="https://self-compassion.org/wp-content/uploads/2021/06/Motivating-Self-Compassion-Break.mp3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00eb9722d3_0_0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00eb9722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0e541861d4_3_899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0e541861d4_3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e541861d4_3_1588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0e541861d4_3_1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e541861d4_3_1593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e541861d4_3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46a7185a54a97a21_0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46a7185a54a97a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0e541861d4_3_940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0e541861d4_3_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Needs to be recreated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&gt;ADD THIS AS A DAILY/WEEKLY PRACTICE TO DRAW THIS MAP &amp; ADD EMPATHY MAP FOR EXTREMES (STRONG EMOTIONAL VOCABULARY). SELF- COMPASSION PROMPTS? BOUNDARY CHECK (SHOULD YOU HAVE SAID NO TO SOMETHING TODAY/THIS WEEK?)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0e541861d4_3_1004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0e541861d4_3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0e541861d4_2_13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0e541861d4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0e541861d4_2_18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0e541861d4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Questionstorming: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https://howtoreframe.wordpress.com/resources/a-guide-to-questionstorming/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0e541861d4_3_931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0e541861d4_3_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009ce78c95_0_138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009ce78c9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0e541861d4_3_1434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0e541861d4_3_1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0e541861d4_3_1885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0e541861d4_3_1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&gt;instrumental value of emotions to support achievement of certain objectives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0e541861d4_3_1430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0e541861d4_3_1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0e541861d4_3_1286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0e541861d4_3_1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 James Doty- resources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0e541861d4_3_1261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0e541861d4_3_1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 one to facilitate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https://self-compassion.org/category/exercises/#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https://self-compassion.org/wp-content/uploads/2021/06/Motivating-Self-Compassion-Break.mp3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0e541861d4_3_1280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0e541861d4_3_1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1pPr>
            <a:lvl2pPr lvl="1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2pPr>
            <a:lvl3pPr lvl="2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3pPr>
            <a:lvl4pPr lvl="3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4pPr>
            <a:lvl5pPr lvl="4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5pPr>
            <a:lvl6pPr lvl="5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6pPr>
            <a:lvl7pPr lvl="6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7pPr>
            <a:lvl8pPr lvl="7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8pPr>
            <a:lvl9pPr lvl="8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15409" y="5891409"/>
            <a:ext cx="14089200" cy="16476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15409" y="4471058"/>
            <a:ext cx="14089200" cy="17499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15409" y="2395696"/>
            <a:ext cx="14089200" cy="71019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515409" y="2395696"/>
            <a:ext cx="6614100" cy="71019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7990583" y="2395696"/>
            <a:ext cx="6614100" cy="71019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515409" y="1154948"/>
            <a:ext cx="4643100" cy="15708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515409" y="2888617"/>
            <a:ext cx="4643100" cy="66090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810650" y="935745"/>
            <a:ext cx="10529400" cy="85038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2pPr>
            <a:lvl3pPr lvl="2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3pPr>
            <a:lvl4pPr lvl="3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4pPr>
            <a:lvl5pPr lvl="4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5pPr>
            <a:lvl6pPr lvl="5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6pPr>
            <a:lvl7pPr lvl="6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7pPr>
            <a:lvl8pPr lvl="7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8pPr>
            <a:lvl9pPr lvl="8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7560000" y="-260"/>
            <a:ext cx="756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64125" lIns="164125" spcFirstLastPara="1" rIns="164125" wrap="square" tIns="16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439016" y="2563450"/>
            <a:ext cx="6688800" cy="30813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439016" y="5826865"/>
            <a:ext cx="6688800" cy="2567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167677" y="1505164"/>
            <a:ext cx="6344700" cy="76812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15409" y="8794266"/>
            <a:ext cx="9919200" cy="12579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515409" y="2299346"/>
            <a:ext cx="14089200" cy="40815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515409" y="6552657"/>
            <a:ext cx="14089200" cy="27039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431800" lvl="0" marL="457200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15409" y="2395696"/>
            <a:ext cx="140892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431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●"/>
              <a:defRPr sz="3200">
                <a:solidFill>
                  <a:schemeClr val="dk2"/>
                </a:solidFill>
              </a:defRPr>
            </a:lvl1pPr>
            <a:lvl2pPr indent="-3873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2pPr>
            <a:lvl3pPr indent="-3873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3pPr>
            <a:lvl4pPr indent="-3873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4pPr>
            <a:lvl5pPr indent="-3873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5pPr>
            <a:lvl6pPr indent="-3873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6pPr>
            <a:lvl7pPr indent="-3873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7pPr>
            <a:lvl8pPr indent="-3873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8pPr>
            <a:lvl9pPr indent="-3873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 algn="r">
              <a:buNone/>
              <a:defRPr sz="1800">
                <a:solidFill>
                  <a:schemeClr val="dk2"/>
                </a:solidFill>
              </a:defRPr>
            </a:lvl1pPr>
            <a:lvl2pPr lvl="1" algn="r">
              <a:buNone/>
              <a:defRPr sz="1800">
                <a:solidFill>
                  <a:schemeClr val="dk2"/>
                </a:solidFill>
              </a:defRPr>
            </a:lvl2pPr>
            <a:lvl3pPr lvl="2" algn="r">
              <a:buNone/>
              <a:defRPr sz="1800">
                <a:solidFill>
                  <a:schemeClr val="dk2"/>
                </a:solidFill>
              </a:defRPr>
            </a:lvl3pPr>
            <a:lvl4pPr lvl="3" algn="r">
              <a:buNone/>
              <a:defRPr sz="1800">
                <a:solidFill>
                  <a:schemeClr val="dk2"/>
                </a:solidFill>
              </a:defRPr>
            </a:lvl4pPr>
            <a:lvl5pPr lvl="4" algn="r">
              <a:buNone/>
              <a:defRPr sz="1800">
                <a:solidFill>
                  <a:schemeClr val="dk2"/>
                </a:solidFill>
              </a:defRPr>
            </a:lvl5pPr>
            <a:lvl6pPr lvl="5" algn="r">
              <a:buNone/>
              <a:defRPr sz="1800">
                <a:solidFill>
                  <a:schemeClr val="dk2"/>
                </a:solidFill>
              </a:defRPr>
            </a:lvl6pPr>
            <a:lvl7pPr lvl="6" algn="r">
              <a:buNone/>
              <a:defRPr sz="1800">
                <a:solidFill>
                  <a:schemeClr val="dk2"/>
                </a:solidFill>
              </a:defRPr>
            </a:lvl7pPr>
            <a:lvl8pPr lvl="7" algn="r">
              <a:buNone/>
              <a:defRPr sz="1800">
                <a:solidFill>
                  <a:schemeClr val="dk2"/>
                </a:solidFill>
              </a:defRPr>
            </a:lvl8pPr>
            <a:lvl9pPr lvl="8" algn="r">
              <a:buNone/>
              <a:defRPr sz="18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www.youtube.com/watch?v=9n5MqKLitWo" TargetMode="External"/><Relationship Id="rId4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www.youtube.com/watch?v=jJ9wGfwE-YE" TargetMode="Externa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C23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My Mojo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15409" y="5891409"/>
            <a:ext cx="14089200" cy="3275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/>
          <a:p>
            <a:pPr indent="-736600" lvl="0" marL="8255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Char char="●"/>
            </a:pPr>
            <a:r>
              <a:rPr lang="en">
                <a:solidFill>
                  <a:srgbClr val="FFFFFF"/>
                </a:solidFill>
              </a:rPr>
              <a:t>My assets - idea purge and affinity map</a:t>
            </a:r>
            <a:endParaRPr>
              <a:solidFill>
                <a:srgbClr val="FFFFFF"/>
              </a:solidFill>
            </a:endParaRPr>
          </a:p>
          <a:p>
            <a:pPr indent="-723900" lvl="1" marL="16383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Char char="○"/>
            </a:pPr>
            <a:r>
              <a:rPr lang="en">
                <a:solidFill>
                  <a:srgbClr val="FFFFFF"/>
                </a:solidFill>
              </a:rPr>
              <a:t>How I create value</a:t>
            </a:r>
            <a:endParaRPr>
              <a:solidFill>
                <a:srgbClr val="FFFFFF"/>
              </a:solidFill>
            </a:endParaRPr>
          </a:p>
          <a:p>
            <a:pPr indent="-723900" lvl="1" marL="16383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Char char="○"/>
            </a:pPr>
            <a:r>
              <a:rPr lang="en">
                <a:solidFill>
                  <a:srgbClr val="FFFFFF"/>
                </a:solidFill>
              </a:rPr>
              <a:t>How I create genuinely unique value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3641" y="310304"/>
            <a:ext cx="12029169" cy="850499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8247626" y="3692934"/>
            <a:ext cx="1467612" cy="1514862"/>
          </a:xfrm>
          <a:prstGeom prst="irregularSeal1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164125" lIns="164125" spcFirstLastPara="1" rIns="164125" wrap="square" tIns="164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Unique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C23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Impact Map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515409" y="5891409"/>
            <a:ext cx="14089200" cy="3275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/>
          <a:p>
            <a:pPr indent="-736600" lvl="0" marL="8255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Char char="●"/>
            </a:pPr>
            <a:r>
              <a:rPr lang="en">
                <a:solidFill>
                  <a:srgbClr val="FFFFFF"/>
                </a:solidFill>
              </a:rPr>
              <a:t>My roles</a:t>
            </a:r>
            <a:endParaRPr>
              <a:solidFill>
                <a:srgbClr val="FFFFFF"/>
              </a:solidFill>
            </a:endParaRPr>
          </a:p>
          <a:p>
            <a:pPr indent="-723900" lvl="1" marL="16383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Char char="○"/>
            </a:pPr>
            <a:r>
              <a:rPr lang="en">
                <a:solidFill>
                  <a:srgbClr val="FFFFFF"/>
                </a:solidFill>
              </a:rPr>
              <a:t>My impact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642" y="454724"/>
            <a:ext cx="10071816" cy="10744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C23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Day in the life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515409" y="5891409"/>
            <a:ext cx="14089200" cy="16476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9300">
                <a:solidFill>
                  <a:srgbClr val="FFFFFF"/>
                </a:solidFill>
              </a:rPr>
              <a:t>Map, share &amp; tweak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3460" y="1243658"/>
            <a:ext cx="12092573" cy="680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9"/>
          <p:cNvPicPr preferRelativeResize="0"/>
          <p:nvPr/>
        </p:nvPicPr>
        <p:blipFill rotWithShape="1">
          <a:blip r:embed="rId3">
            <a:alphaModFix/>
          </a:blip>
          <a:srcRect b="4376" l="0" r="0" t="14874"/>
          <a:stretch/>
        </p:blipFill>
        <p:spPr>
          <a:xfrm>
            <a:off x="252000" y="1808972"/>
            <a:ext cx="14616003" cy="7382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ctrTitle"/>
          </p:nvPr>
        </p:nvSpPr>
        <p:spPr>
          <a:xfrm>
            <a:off x="515423" y="1487494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Curious</a:t>
            </a:r>
            <a:endParaRPr/>
          </a:p>
        </p:txBody>
      </p:sp>
      <p:sp>
        <p:nvSpPr>
          <p:cNvPr id="94" name="Google Shape;94;p20"/>
          <p:cNvSpPr txBox="1"/>
          <p:nvPr>
            <p:ph idx="1" type="subTitle"/>
          </p:nvPr>
        </p:nvSpPr>
        <p:spPr>
          <a:xfrm>
            <a:off x="515409" y="5891409"/>
            <a:ext cx="14089200" cy="16476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Autofit/>
          </a:bodyPr>
          <a:lstStyle/>
          <a:p>
            <a:pPr indent="-603250" lvl="0" marL="8255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" sz="2900"/>
              <a:t>Frame the low point(s): </a:t>
            </a:r>
            <a:br>
              <a:rPr lang="en" sz="2900"/>
            </a:br>
            <a:r>
              <a:rPr lang="en" sz="2900"/>
              <a:t>what was the story with the lows yesterday? Or last month?</a:t>
            </a:r>
            <a:endParaRPr sz="2900"/>
          </a:p>
          <a:p>
            <a:pPr indent="-603250" lvl="0" marL="8255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" sz="2900"/>
              <a:t>Get curious on why the highs or lows are important</a:t>
            </a:r>
            <a:endParaRPr sz="2900"/>
          </a:p>
          <a:p>
            <a:pPr indent="-603250" lvl="0" marL="8255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" sz="2900"/>
              <a:t>Where have you made a great impact?</a:t>
            </a:r>
            <a:endParaRPr sz="2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Supportive</a:t>
            </a:r>
            <a:r>
              <a:rPr lang="en"/>
              <a:t> reframing</a:t>
            </a:r>
            <a:endParaRPr/>
          </a:p>
        </p:txBody>
      </p:sp>
      <p:sp>
        <p:nvSpPr>
          <p:cNvPr id="100" name="Google Shape;100;p21"/>
          <p:cNvSpPr txBox="1"/>
          <p:nvPr>
            <p:ph idx="1" type="subTitle"/>
          </p:nvPr>
        </p:nvSpPr>
        <p:spPr>
          <a:xfrm>
            <a:off x="515409" y="5891409"/>
            <a:ext cx="14089200" cy="39213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/>
          <a:p>
            <a:pPr indent="-603250" lvl="0" marL="825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" sz="2900"/>
              <a:t>How can you help your partner?</a:t>
            </a:r>
            <a:endParaRPr sz="2900"/>
          </a:p>
          <a:p>
            <a:pPr indent="-603250" lvl="0" marL="825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" sz="2900"/>
              <a:t>Reword your partner’s pain point into an open-ended question that allows for multiple different options</a:t>
            </a:r>
            <a:endParaRPr sz="2900"/>
          </a:p>
          <a:p>
            <a:pPr indent="-603250" lvl="0" marL="825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" sz="2900"/>
              <a:t>“How can I help [partner] do [the things they want to do in that low from yesterday]?</a:t>
            </a:r>
            <a:endParaRPr sz="2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4870" y="2807569"/>
            <a:ext cx="10970269" cy="403840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2"/>
          <p:cNvSpPr txBox="1"/>
          <p:nvPr>
            <p:ph idx="4294967295"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we reframe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C23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ctrTitle"/>
          </p:nvPr>
        </p:nvSpPr>
        <p:spPr>
          <a:xfrm>
            <a:off x="1798559" y="3212589"/>
            <a:ext cx="11642700" cy="42669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Are you recognising</a:t>
            </a:r>
            <a:r>
              <a:rPr lang="en">
                <a:solidFill>
                  <a:schemeClr val="lt1"/>
                </a:solidFill>
              </a:rPr>
              <a:t> your contribution as you would your child?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2" name="Google Shape;112;p23"/>
          <p:cNvSpPr/>
          <p:nvPr/>
        </p:nvSpPr>
        <p:spPr>
          <a:xfrm>
            <a:off x="1144500" y="2403543"/>
            <a:ext cx="12950700" cy="56475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133350">
              <a:srgbClr val="F3F3F3">
                <a:alpha val="50000"/>
              </a:srgbClr>
            </a:outerShdw>
          </a:effectLst>
        </p:spPr>
        <p:txBody>
          <a:bodyPr anchorCtr="0" anchor="ctr" bIns="164125" lIns="164125" spcFirstLastPara="1" rIns="164125" wrap="square" tIns="16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C23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ctrTitle"/>
          </p:nvPr>
        </p:nvSpPr>
        <p:spPr>
          <a:xfrm>
            <a:off x="1798559" y="3212589"/>
            <a:ext cx="11642700" cy="42669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EMOTIONS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5" title="james gross on emotion regulation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1404" y="2580860"/>
            <a:ext cx="9877152" cy="740787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5"/>
          <p:cNvSpPr txBox="1"/>
          <p:nvPr>
            <p:ph idx="4294967295"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Emotional regulation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3774" y="316800"/>
            <a:ext cx="12378654" cy="8001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C23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ctrTitle"/>
          </p:nvPr>
        </p:nvSpPr>
        <p:spPr>
          <a:xfrm>
            <a:off x="515409" y="4279294"/>
            <a:ext cx="14089200" cy="21333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[Equanimity]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000" y="316800"/>
            <a:ext cx="14616008" cy="7957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is is a self-compassion practice that can be used by caregivers in actual caregiving interactions." id="143" name="Google Shape;143;p29" title="Self-compassion for caregiver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8150" y="1476685"/>
            <a:ext cx="10362176" cy="7771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