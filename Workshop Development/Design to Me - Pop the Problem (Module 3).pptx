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10692000" cx="1512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47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47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009ce78c95_0_16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009ce78c9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0e541861d4_3_158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0e541861d4_3_1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009ce78c95_0_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009ce78c9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Tie in the problems too big for us to tackle with prototyping. Design Your Life book.</a:t>
            </a:r>
            <a:endParaRPr/>
          </a:p>
          <a:p>
            <a:pPr indent="0" lvl="0" marL="0" rtl="0" algn="l">
              <a:spcBef>
                <a:spcPts val="0"/>
              </a:spcBef>
              <a:spcAft>
                <a:spcPts val="0"/>
              </a:spcAft>
              <a:buNone/>
            </a:pPr>
            <a:r>
              <a:rPr lang="en"/>
              <a:t>&gt;Problem: Name &amp; describe why some of the problems are effectively inactionable for you, and therefore need to be accepted.</a:t>
            </a:r>
            <a:endParaRPr/>
          </a:p>
          <a:p>
            <a:pPr indent="0" lvl="0" marL="0" rtl="0" algn="l">
              <a:spcBef>
                <a:spcPts val="0"/>
              </a:spcBef>
              <a:spcAft>
                <a:spcPts val="0"/>
              </a:spcAft>
              <a:buNone/>
            </a:pPr>
            <a:r>
              <a:rPr lang="en"/>
              <a:t>&gt;Reframe: identify and describe a new, more actionable problem to replace your old </a:t>
            </a:r>
            <a:r>
              <a:rPr lang="en"/>
              <a:t>gravity problem</a:t>
            </a:r>
            <a:endParaRPr/>
          </a:p>
          <a:p>
            <a:pPr indent="0" lvl="0" marL="0" rtl="0" algn="l">
              <a:spcBef>
                <a:spcPts val="0"/>
              </a:spcBef>
              <a:spcAft>
                <a:spcPts val="0"/>
              </a:spcAft>
              <a:buNone/>
            </a:pPr>
            <a:r>
              <a:rPr lang="en"/>
              <a:t>&gt;Bias to action: list some ideas or some small step(s) you could take to respond to your reframe.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0e541861d4_3_1383: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0e541861d4_3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Locus of control &amp; influence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0e541861d4_3_162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0e541861d4_3_1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e541861d4_3_1247: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e541861d4_3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 getting out of the negatives; rehearse and practice good news &amp; gratitude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0e541861d4_3_919: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0e541861d4_3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Key aspect of resilience building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1" name="Google Shape;11;p2"/>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2" name="Google Shape;12;p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5409" y="4471058"/>
            <a:ext cx="14089200" cy="1749900"/>
          </a:xfrm>
          <a:prstGeom prst="rect">
            <a:avLst/>
          </a:prstGeom>
        </p:spPr>
        <p:txBody>
          <a:bodyPr anchorCtr="0" anchor="ctr" bIns="164125" lIns="164125" spcFirstLastPara="1" rIns="164125" wrap="square" tIns="164125">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p:txBody>
      </p:sp>
      <p:sp>
        <p:nvSpPr>
          <p:cNvPr id="15" name="Google Shape;15;p3"/>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18" name="Google Shape;18;p4"/>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19" name="Google Shape;19;p4"/>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2" name="Google Shape;22;p5"/>
          <p:cNvSpPr txBox="1"/>
          <p:nvPr>
            <p:ph idx="1" type="body"/>
          </p:nvPr>
        </p:nvSpPr>
        <p:spPr>
          <a:xfrm>
            <a:off x="515409"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3" name="Google Shape;23;p5"/>
          <p:cNvSpPr txBox="1"/>
          <p:nvPr>
            <p:ph idx="2" type="body"/>
          </p:nvPr>
        </p:nvSpPr>
        <p:spPr>
          <a:xfrm>
            <a:off x="7990583"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4" name="Google Shape;24;p5"/>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7" name="Google Shape;27;p6"/>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5409" y="1154948"/>
            <a:ext cx="4643100" cy="1570800"/>
          </a:xfrm>
          <a:prstGeom prst="rect">
            <a:avLst/>
          </a:prstGeom>
        </p:spPr>
        <p:txBody>
          <a:bodyPr anchorCtr="0" anchor="b" bIns="164125" lIns="164125" spcFirstLastPara="1" rIns="164125" wrap="square" tIns="164125">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p:txBody>
      </p:sp>
      <p:sp>
        <p:nvSpPr>
          <p:cNvPr id="30" name="Google Shape;30;p7"/>
          <p:cNvSpPr txBox="1"/>
          <p:nvPr>
            <p:ph idx="1" type="body"/>
          </p:nvPr>
        </p:nvSpPr>
        <p:spPr>
          <a:xfrm>
            <a:off x="515409" y="2888617"/>
            <a:ext cx="4643100" cy="6609000"/>
          </a:xfrm>
          <a:prstGeom prst="rect">
            <a:avLst/>
          </a:prstGeom>
        </p:spPr>
        <p:txBody>
          <a:bodyPr anchorCtr="0" anchor="t" bIns="164125" lIns="164125" spcFirstLastPara="1" rIns="164125" wrap="square" tIns="164125">
            <a:normAutofit/>
          </a:bodyPr>
          <a:lstStyle>
            <a:lvl1pPr indent="-368300" lvl="0" marL="457200">
              <a:spcBef>
                <a:spcPts val="0"/>
              </a:spcBef>
              <a:spcAft>
                <a:spcPts val="0"/>
              </a:spcAft>
              <a:buSzPts val="2200"/>
              <a:buChar char="●"/>
              <a:defRPr sz="22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31" name="Google Shape;31;p7"/>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10650" y="935745"/>
            <a:ext cx="10529400" cy="8503800"/>
          </a:xfrm>
          <a:prstGeom prst="rect">
            <a:avLst/>
          </a:prstGeom>
        </p:spPr>
        <p:txBody>
          <a:bodyPr anchorCtr="0" anchor="ctr" bIns="164125" lIns="164125" spcFirstLastPara="1" rIns="164125" wrap="square" tIns="164125">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p:txBody>
      </p:sp>
      <p:sp>
        <p:nvSpPr>
          <p:cNvPr id="34" name="Google Shape;34;p8"/>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9016" y="2563450"/>
            <a:ext cx="6688800" cy="30813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p:txBody>
      </p:sp>
      <p:sp>
        <p:nvSpPr>
          <p:cNvPr id="38" name="Google Shape;38;p9"/>
          <p:cNvSpPr txBox="1"/>
          <p:nvPr>
            <p:ph idx="1" type="subTitle"/>
          </p:nvPr>
        </p:nvSpPr>
        <p:spPr>
          <a:xfrm>
            <a:off x="439016" y="5826865"/>
            <a:ext cx="6688800" cy="25674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9" name="Google Shape;39;p9"/>
          <p:cNvSpPr txBox="1"/>
          <p:nvPr>
            <p:ph idx="2" type="body"/>
          </p:nvPr>
        </p:nvSpPr>
        <p:spPr>
          <a:xfrm>
            <a:off x="8167677" y="1505164"/>
            <a:ext cx="6344700" cy="7681200"/>
          </a:xfrm>
          <a:prstGeom prst="rect">
            <a:avLst/>
          </a:prstGeom>
        </p:spPr>
        <p:txBody>
          <a:bodyPr anchorCtr="0" anchor="ctr"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40" name="Google Shape;40;p9"/>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5409" y="8794266"/>
            <a:ext cx="9919200" cy="1257900"/>
          </a:xfrm>
          <a:prstGeom prst="rect">
            <a:avLst/>
          </a:prstGeom>
        </p:spPr>
        <p:txBody>
          <a:bodyPr anchorCtr="0" anchor="ctr" bIns="164125" lIns="164125" spcFirstLastPara="1" rIns="164125" wrap="square" tIns="164125">
            <a:normAutofit/>
          </a:bodyPr>
          <a:lstStyle>
            <a:lvl1pPr indent="-228600" lvl="0" marL="457200">
              <a:lnSpc>
                <a:spcPct val="100000"/>
              </a:lnSpc>
              <a:spcBef>
                <a:spcPts val="0"/>
              </a:spcBef>
              <a:spcAft>
                <a:spcPts val="0"/>
              </a:spcAft>
              <a:buSzPts val="3200"/>
              <a:buNone/>
              <a:defRPr/>
            </a:lvl1pPr>
          </a:lstStyle>
          <a:p/>
        </p:txBody>
      </p:sp>
      <p:sp>
        <p:nvSpPr>
          <p:cNvPr id="43" name="Google Shape;43;p10"/>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5409" y="2299346"/>
            <a:ext cx="14089200" cy="40815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p:nvPr>
            <p:ph idx="1" type="body"/>
          </p:nvPr>
        </p:nvSpPr>
        <p:spPr>
          <a:xfrm>
            <a:off x="515409" y="6552657"/>
            <a:ext cx="14089200" cy="2703900"/>
          </a:xfrm>
          <a:prstGeom prst="rect">
            <a:avLst/>
          </a:prstGeom>
        </p:spPr>
        <p:txBody>
          <a:bodyPr anchorCtr="0" anchor="t" bIns="164125" lIns="164125" spcFirstLastPara="1" rIns="164125" wrap="square" tIns="164125">
            <a:normAutofit/>
          </a:bodyPr>
          <a:lstStyle>
            <a:lvl1pPr indent="-431800" lvl="0" marL="457200" algn="ctr">
              <a:spcBef>
                <a:spcPts val="0"/>
              </a:spcBef>
              <a:spcAft>
                <a:spcPts val="0"/>
              </a:spcAft>
              <a:buSzPts val="3200"/>
              <a:buChar char="●"/>
              <a:defRPr/>
            </a:lvl1pPr>
            <a:lvl2pPr indent="-387350" lvl="1" marL="914400" algn="ctr">
              <a:spcBef>
                <a:spcPts val="0"/>
              </a:spcBef>
              <a:spcAft>
                <a:spcPts val="0"/>
              </a:spcAft>
              <a:buSzPts val="2500"/>
              <a:buChar char="○"/>
              <a:defRPr/>
            </a:lvl2pPr>
            <a:lvl3pPr indent="-387350" lvl="2" marL="1371600" algn="ctr">
              <a:spcBef>
                <a:spcPts val="0"/>
              </a:spcBef>
              <a:spcAft>
                <a:spcPts val="0"/>
              </a:spcAft>
              <a:buSzPts val="2500"/>
              <a:buChar char="■"/>
              <a:defRPr/>
            </a:lvl3pPr>
            <a:lvl4pPr indent="-387350" lvl="3" marL="1828800" algn="ctr">
              <a:spcBef>
                <a:spcPts val="0"/>
              </a:spcBef>
              <a:spcAft>
                <a:spcPts val="0"/>
              </a:spcAft>
              <a:buSzPts val="2500"/>
              <a:buChar char="●"/>
              <a:defRPr/>
            </a:lvl4pPr>
            <a:lvl5pPr indent="-387350" lvl="4" marL="2286000" algn="ctr">
              <a:spcBef>
                <a:spcPts val="0"/>
              </a:spcBef>
              <a:spcAft>
                <a:spcPts val="0"/>
              </a:spcAft>
              <a:buSzPts val="2500"/>
              <a:buChar char="○"/>
              <a:defRPr/>
            </a:lvl5pPr>
            <a:lvl6pPr indent="-387350" lvl="5" marL="2743200" algn="ctr">
              <a:spcBef>
                <a:spcPts val="0"/>
              </a:spcBef>
              <a:spcAft>
                <a:spcPts val="0"/>
              </a:spcAft>
              <a:buSzPts val="2500"/>
              <a:buChar char="■"/>
              <a:defRPr/>
            </a:lvl6pPr>
            <a:lvl7pPr indent="-387350" lvl="6" marL="3200400" algn="ctr">
              <a:spcBef>
                <a:spcPts val="0"/>
              </a:spcBef>
              <a:spcAft>
                <a:spcPts val="0"/>
              </a:spcAft>
              <a:buSzPts val="2500"/>
              <a:buChar char="●"/>
              <a:defRPr/>
            </a:lvl7pPr>
            <a:lvl8pPr indent="-387350" lvl="7" marL="3657600" algn="ctr">
              <a:spcBef>
                <a:spcPts val="0"/>
              </a:spcBef>
              <a:spcAft>
                <a:spcPts val="0"/>
              </a:spcAft>
              <a:buSzPts val="2500"/>
              <a:buChar char="○"/>
              <a:defRPr/>
            </a:lvl8pPr>
            <a:lvl9pPr indent="-387350" lvl="8" marL="4114800" algn="ctr">
              <a:spcBef>
                <a:spcPts val="0"/>
              </a:spcBef>
              <a:spcAft>
                <a:spcPts val="0"/>
              </a:spcAft>
              <a:buSzPts val="2500"/>
              <a:buChar char="■"/>
              <a:defRPr/>
            </a:lvl9pPr>
          </a:lstStyle>
          <a:p/>
        </p:txBody>
      </p:sp>
      <p:sp>
        <p:nvSpPr>
          <p:cNvPr id="47" name="Google Shape;47;p11"/>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5409" y="925091"/>
            <a:ext cx="14089200" cy="1190400"/>
          </a:xfrm>
          <a:prstGeom prst="rect">
            <a:avLst/>
          </a:prstGeom>
          <a:noFill/>
          <a:ln>
            <a:noFill/>
          </a:ln>
        </p:spPr>
        <p:txBody>
          <a:bodyPr anchorCtr="0" anchor="t" bIns="164125" lIns="164125" spcFirstLastPara="1" rIns="164125" wrap="square" tIns="164125">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p:txBody>
      </p:sp>
      <p:sp>
        <p:nvSpPr>
          <p:cNvPr id="7" name="Google Shape;7;p1"/>
          <p:cNvSpPr txBox="1"/>
          <p:nvPr>
            <p:ph idx="1" type="body"/>
          </p:nvPr>
        </p:nvSpPr>
        <p:spPr>
          <a:xfrm>
            <a:off x="515409" y="2395696"/>
            <a:ext cx="14089200" cy="7101900"/>
          </a:xfrm>
          <a:prstGeom prst="rect">
            <a:avLst/>
          </a:prstGeom>
          <a:noFill/>
          <a:ln>
            <a:noFill/>
          </a:ln>
        </p:spPr>
        <p:txBody>
          <a:bodyPr anchorCtr="0" anchor="t" bIns="164125" lIns="164125" spcFirstLastPara="1" rIns="164125" wrap="square" tIns="164125">
            <a:normAutofit/>
          </a:bodyPr>
          <a:lstStyle>
            <a:lvl1pPr indent="-431800" lvl="0" marL="457200">
              <a:lnSpc>
                <a:spcPct val="115000"/>
              </a:lnSpc>
              <a:spcBef>
                <a:spcPts val="0"/>
              </a:spcBef>
              <a:spcAft>
                <a:spcPts val="0"/>
              </a:spcAft>
              <a:buClr>
                <a:schemeClr val="dk2"/>
              </a:buClr>
              <a:buSzPts val="3200"/>
              <a:buChar char="●"/>
              <a:defRPr sz="3200">
                <a:solidFill>
                  <a:schemeClr val="dk2"/>
                </a:solidFill>
              </a:defRPr>
            </a:lvl1pPr>
            <a:lvl2pPr indent="-387350" lvl="1" marL="914400">
              <a:lnSpc>
                <a:spcPct val="115000"/>
              </a:lnSpc>
              <a:spcBef>
                <a:spcPts val="0"/>
              </a:spcBef>
              <a:spcAft>
                <a:spcPts val="0"/>
              </a:spcAft>
              <a:buClr>
                <a:schemeClr val="dk2"/>
              </a:buClr>
              <a:buSzPts val="2500"/>
              <a:buChar char="○"/>
              <a:defRPr sz="2500">
                <a:solidFill>
                  <a:schemeClr val="dk2"/>
                </a:solidFill>
              </a:defRPr>
            </a:lvl2pPr>
            <a:lvl3pPr indent="-387350" lvl="2" marL="1371600">
              <a:lnSpc>
                <a:spcPct val="115000"/>
              </a:lnSpc>
              <a:spcBef>
                <a:spcPts val="0"/>
              </a:spcBef>
              <a:spcAft>
                <a:spcPts val="0"/>
              </a:spcAft>
              <a:buClr>
                <a:schemeClr val="dk2"/>
              </a:buClr>
              <a:buSzPts val="2500"/>
              <a:buChar char="■"/>
              <a:defRPr sz="2500">
                <a:solidFill>
                  <a:schemeClr val="dk2"/>
                </a:solidFill>
              </a:defRPr>
            </a:lvl3pPr>
            <a:lvl4pPr indent="-387350" lvl="3" marL="1828800">
              <a:lnSpc>
                <a:spcPct val="115000"/>
              </a:lnSpc>
              <a:spcBef>
                <a:spcPts val="0"/>
              </a:spcBef>
              <a:spcAft>
                <a:spcPts val="0"/>
              </a:spcAft>
              <a:buClr>
                <a:schemeClr val="dk2"/>
              </a:buClr>
              <a:buSzPts val="2500"/>
              <a:buChar char="●"/>
              <a:defRPr sz="2500">
                <a:solidFill>
                  <a:schemeClr val="dk2"/>
                </a:solidFill>
              </a:defRPr>
            </a:lvl4pPr>
            <a:lvl5pPr indent="-387350" lvl="4" marL="2286000">
              <a:lnSpc>
                <a:spcPct val="115000"/>
              </a:lnSpc>
              <a:spcBef>
                <a:spcPts val="0"/>
              </a:spcBef>
              <a:spcAft>
                <a:spcPts val="0"/>
              </a:spcAft>
              <a:buClr>
                <a:schemeClr val="dk2"/>
              </a:buClr>
              <a:buSzPts val="2500"/>
              <a:buChar char="○"/>
              <a:defRPr sz="2500">
                <a:solidFill>
                  <a:schemeClr val="dk2"/>
                </a:solidFill>
              </a:defRPr>
            </a:lvl5pPr>
            <a:lvl6pPr indent="-387350" lvl="5" marL="2743200">
              <a:lnSpc>
                <a:spcPct val="115000"/>
              </a:lnSpc>
              <a:spcBef>
                <a:spcPts val="0"/>
              </a:spcBef>
              <a:spcAft>
                <a:spcPts val="0"/>
              </a:spcAft>
              <a:buClr>
                <a:schemeClr val="dk2"/>
              </a:buClr>
              <a:buSzPts val="2500"/>
              <a:buChar char="■"/>
              <a:defRPr sz="2500">
                <a:solidFill>
                  <a:schemeClr val="dk2"/>
                </a:solidFill>
              </a:defRPr>
            </a:lvl6pPr>
            <a:lvl7pPr indent="-387350" lvl="6" marL="3200400">
              <a:lnSpc>
                <a:spcPct val="115000"/>
              </a:lnSpc>
              <a:spcBef>
                <a:spcPts val="0"/>
              </a:spcBef>
              <a:spcAft>
                <a:spcPts val="0"/>
              </a:spcAft>
              <a:buClr>
                <a:schemeClr val="dk2"/>
              </a:buClr>
              <a:buSzPts val="2500"/>
              <a:buChar char="●"/>
              <a:defRPr sz="2500">
                <a:solidFill>
                  <a:schemeClr val="dk2"/>
                </a:solidFill>
              </a:defRPr>
            </a:lvl7pPr>
            <a:lvl8pPr indent="-387350" lvl="7" marL="3657600">
              <a:lnSpc>
                <a:spcPct val="115000"/>
              </a:lnSpc>
              <a:spcBef>
                <a:spcPts val="0"/>
              </a:spcBef>
              <a:spcAft>
                <a:spcPts val="0"/>
              </a:spcAft>
              <a:buClr>
                <a:schemeClr val="dk2"/>
              </a:buClr>
              <a:buSzPts val="2500"/>
              <a:buChar char="○"/>
              <a:defRPr sz="2500">
                <a:solidFill>
                  <a:schemeClr val="dk2"/>
                </a:solidFill>
              </a:defRPr>
            </a:lvl8pPr>
            <a:lvl9pPr indent="-387350" lvl="8" marL="4114800">
              <a:lnSpc>
                <a:spcPct val="115000"/>
              </a:lnSpc>
              <a:spcBef>
                <a:spcPts val="0"/>
              </a:spcBef>
              <a:spcAft>
                <a:spcPts val="0"/>
              </a:spcAft>
              <a:buClr>
                <a:schemeClr val="dk2"/>
              </a:buClr>
              <a:buSzPts val="2500"/>
              <a:buChar char="■"/>
              <a:defRPr sz="2500">
                <a:solidFill>
                  <a:schemeClr val="dk2"/>
                </a:solidFill>
              </a:defRPr>
            </a:lvl9pPr>
          </a:lstStyle>
          <a:p/>
        </p:txBody>
      </p:sp>
      <p:sp>
        <p:nvSpPr>
          <p:cNvPr id="8" name="Google Shape;8;p1"/>
          <p:cNvSpPr txBox="1"/>
          <p:nvPr>
            <p:ph idx="12" type="sldNum"/>
          </p:nvPr>
        </p:nvSpPr>
        <p:spPr>
          <a:xfrm>
            <a:off x="14009576" y="9693616"/>
            <a:ext cx="907200" cy="818100"/>
          </a:xfrm>
          <a:prstGeom prst="rect">
            <a:avLst/>
          </a:prstGeom>
          <a:noFill/>
          <a:ln>
            <a:noFill/>
          </a:ln>
        </p:spPr>
        <p:txBody>
          <a:bodyPr anchorCtr="0" anchor="ctr" bIns="164125" lIns="164125" spcFirstLastPara="1" rIns="164125" wrap="square" tIns="164125">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www.youtube.com/watch?v=7XFLTDQ4JMk" TargetMode="Externa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www.youtube.com/watch?v=Rut5Y1UvGFM"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515423" y="3212589"/>
            <a:ext cx="14089200" cy="4266900"/>
          </a:xfrm>
          <a:prstGeom prst="rect">
            <a:avLst/>
          </a:prstGeom>
        </p:spPr>
        <p:txBody>
          <a:bodyPr anchorCtr="0" anchor="ctr" bIns="164125" lIns="164125" spcFirstLastPara="1" rIns="164125" wrap="square" tIns="164125">
            <a:normAutofit/>
          </a:bodyPr>
          <a:lstStyle/>
          <a:p>
            <a:pPr indent="0" lvl="0" marL="0" rtl="0" algn="ctr">
              <a:spcBef>
                <a:spcPts val="0"/>
              </a:spcBef>
              <a:spcAft>
                <a:spcPts val="0"/>
              </a:spcAft>
              <a:buNone/>
            </a:pPr>
            <a:r>
              <a:rPr lang="en">
                <a:solidFill>
                  <a:schemeClr val="lt1"/>
                </a:solidFill>
              </a:rPr>
              <a:t>POP THE PROBLEM</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2918668" y="588387"/>
            <a:ext cx="9282662" cy="1006933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63" name="Shape 63"/>
        <p:cNvGrpSpPr/>
        <p:nvPr/>
      </p:nvGrpSpPr>
      <p:grpSpPr>
        <a:xfrm>
          <a:off x="0" y="0"/>
          <a:ext cx="0" cy="0"/>
          <a:chOff x="0" y="0"/>
          <a:chExt cx="0" cy="0"/>
        </a:xfrm>
      </p:grpSpPr>
      <p:sp>
        <p:nvSpPr>
          <p:cNvPr id="64" name="Google Shape;64;p15"/>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l">
              <a:spcBef>
                <a:spcPts val="0"/>
              </a:spcBef>
              <a:spcAft>
                <a:spcPts val="0"/>
              </a:spcAft>
              <a:buNone/>
            </a:pPr>
            <a:r>
              <a:rPr lang="en">
                <a:solidFill>
                  <a:srgbClr val="FFFFFF"/>
                </a:solidFill>
              </a:rPr>
              <a:t>Gravity Problems</a:t>
            </a:r>
            <a:endParaRPr>
              <a:solidFill>
                <a:srgbClr val="FFFFFF"/>
              </a:solidFill>
            </a:endParaRPr>
          </a:p>
        </p:txBody>
      </p:sp>
      <p:sp>
        <p:nvSpPr>
          <p:cNvPr id="65" name="Google Shape;65;p15"/>
          <p:cNvSpPr txBox="1"/>
          <p:nvPr>
            <p:ph idx="1" type="subTitle"/>
          </p:nvPr>
        </p:nvSpPr>
        <p:spPr>
          <a:xfrm>
            <a:off x="515409" y="5891409"/>
            <a:ext cx="14089200" cy="37506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solidFill>
                  <a:srgbClr val="FFFFFF"/>
                </a:solidFill>
              </a:rPr>
              <a:t>Zoom in to target problems that we can tackle together with compassionate design thinking </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69" name="Shape 69"/>
        <p:cNvGrpSpPr/>
        <p:nvPr/>
      </p:nvGrpSpPr>
      <p:grpSpPr>
        <a:xfrm>
          <a:off x="0" y="0"/>
          <a:ext cx="0" cy="0"/>
          <a:chOff x="0" y="0"/>
          <a:chExt cx="0" cy="0"/>
        </a:xfrm>
      </p:grpSpPr>
      <p:sp>
        <p:nvSpPr>
          <p:cNvPr id="70" name="Google Shape;70;p16"/>
          <p:cNvSpPr txBox="1"/>
          <p:nvPr>
            <p:ph type="ctrTitle"/>
          </p:nvPr>
        </p:nvSpPr>
        <p:spPr>
          <a:xfrm>
            <a:off x="515423" y="3212589"/>
            <a:ext cx="14089200" cy="4266900"/>
          </a:xfrm>
          <a:prstGeom prst="rect">
            <a:avLst/>
          </a:prstGeom>
        </p:spPr>
        <p:txBody>
          <a:bodyPr anchorCtr="0" anchor="ctr" bIns="164125" lIns="164125" spcFirstLastPara="1" rIns="164125" wrap="square" tIns="164125">
            <a:normAutofit/>
          </a:bodyPr>
          <a:lstStyle/>
          <a:p>
            <a:pPr indent="0" lvl="0" marL="0" rtl="0" algn="ctr">
              <a:spcBef>
                <a:spcPts val="0"/>
              </a:spcBef>
              <a:spcAft>
                <a:spcPts val="0"/>
              </a:spcAft>
              <a:buNone/>
            </a:pPr>
            <a:r>
              <a:rPr lang="en">
                <a:solidFill>
                  <a:schemeClr val="lt1"/>
                </a:solidFill>
              </a:rPr>
              <a:t>What is outside of my control?</a:t>
            </a:r>
            <a:endParaRPr>
              <a:solidFill>
                <a:schemeClr val="lt1"/>
              </a:solidFill>
            </a:endParaRPr>
          </a:p>
        </p:txBody>
      </p:sp>
      <p:sp>
        <p:nvSpPr>
          <p:cNvPr id="71" name="Google Shape;71;p16"/>
          <p:cNvSpPr/>
          <p:nvPr/>
        </p:nvSpPr>
        <p:spPr>
          <a:xfrm>
            <a:off x="1144500" y="2403543"/>
            <a:ext cx="12950700" cy="5647500"/>
          </a:xfrm>
          <a:prstGeom prst="wedgeRoundRectCallout">
            <a:avLst>
              <a:gd fmla="val -20833" name="adj1"/>
              <a:gd fmla="val 62500" name="adj2"/>
              <a:gd fmla="val 0" name="adj3"/>
            </a:avLst>
          </a:prstGeom>
          <a:noFill/>
          <a:ln cap="flat" cmpd="sng" w="9525">
            <a:solidFill>
              <a:srgbClr val="FFFFFF"/>
            </a:solidFill>
            <a:prstDash val="solid"/>
            <a:round/>
            <a:headEnd len="sm" w="sm" type="none"/>
            <a:tailEnd len="sm" w="sm" type="none"/>
          </a:ln>
          <a:effectLst>
            <a:outerShdw blurRad="571500" rotWithShape="0" algn="bl" dir="5400000" dist="133350">
              <a:srgbClr val="F3F3F3">
                <a:alpha val="50000"/>
              </a:srgbClr>
            </a:outerShdw>
          </a:effectLst>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p:cNvPicPr preferRelativeResize="0"/>
          <p:nvPr/>
        </p:nvPicPr>
        <p:blipFill>
          <a:blip r:embed="rId3">
            <a:alphaModFix/>
          </a:blip>
          <a:stretch>
            <a:fillRect/>
          </a:stretch>
        </p:blipFill>
        <p:spPr>
          <a:xfrm>
            <a:off x="3375585" y="633600"/>
            <a:ext cx="6812546" cy="80009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Alison Ledgerwood joined the Department of Psychology at UC Davis in 2008 after completing her PhD in social psychology at New York University. She is interested in understanding how people think, and how they can think better. Her research, which is funded by the National Science Foundation, investigates how certain ways of thinking about an issue tend to stick in people's heads. Her classes on social psychology focus on understanding the way people think and behave in social situations, and how to harness that knowledge to potentially improve the social world in which we all live.&#10;&#10;In the spirit of ideas worth spreading, TEDx is a program of local, self-organized events that bring people together to share a TED-like experience. At a TEDx event, TEDTalks video and live speakers combine to spark deep discussion and connection in a small group. These local, self-organized events are branded TEDx, where x = independently organized TED event. The TED Conference provides general guidance for the TEDx program, but individual TEDx events are self-organized.* (*Subject to certain rules and regulations)" id="81" name="Google Shape;81;p18" title="Getting stuck in the negatives (and how to get unstuck) | Alison Ledgerwood | TEDxUCDavis">
            <a:hlinkClick r:id="rId3"/>
          </p:cNvPr>
          <p:cNvPicPr preferRelativeResize="0"/>
          <p:nvPr/>
        </p:nvPicPr>
        <p:blipFill>
          <a:blip r:embed="rId4">
            <a:alphaModFix/>
          </a:blip>
          <a:stretch>
            <a:fillRect/>
          </a:stretch>
        </p:blipFill>
        <p:spPr>
          <a:xfrm>
            <a:off x="2378911" y="2895321"/>
            <a:ext cx="10362176" cy="7771653"/>
          </a:xfrm>
          <a:prstGeom prst="rect">
            <a:avLst/>
          </a:prstGeom>
          <a:noFill/>
          <a:ln>
            <a:noFill/>
          </a:ln>
        </p:spPr>
      </p:pic>
      <p:sp>
        <p:nvSpPr>
          <p:cNvPr id="82" name="Google Shape;82;p18"/>
          <p:cNvSpPr txBox="1"/>
          <p:nvPr>
            <p:ph idx="4294967295" type="title"/>
          </p:nvPr>
        </p:nvSpPr>
        <p:spPr>
          <a:xfrm>
            <a:off x="515409" y="925091"/>
            <a:ext cx="14089200" cy="1190400"/>
          </a:xfrm>
          <a:prstGeom prst="rect">
            <a:avLst/>
          </a:prstGeom>
        </p:spPr>
        <p:txBody>
          <a:bodyPr anchorCtr="0" anchor="t" bIns="164125" lIns="164125" spcFirstLastPara="1" rIns="164125" wrap="square" tIns="164125">
            <a:normAutofit fontScale="90000"/>
          </a:bodyPr>
          <a:lstStyle/>
          <a:p>
            <a:pPr indent="0" lvl="0" marL="0" rtl="0" algn="l">
              <a:spcBef>
                <a:spcPts val="0"/>
              </a:spcBef>
              <a:spcAft>
                <a:spcPts val="0"/>
              </a:spcAft>
              <a:buNone/>
            </a:pPr>
            <a:r>
              <a:rPr lang="en"/>
              <a:t>Loss frame - could we shift our view to build on the positive instead?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 name="Shape 86"/>
        <p:cNvGrpSpPr/>
        <p:nvPr/>
      </p:nvGrpSpPr>
      <p:grpSpPr>
        <a:xfrm>
          <a:off x="0" y="0"/>
          <a:ext cx="0" cy="0"/>
          <a:chOff x="0" y="0"/>
          <a:chExt cx="0" cy="0"/>
        </a:xfrm>
      </p:grpSpPr>
      <p:sp>
        <p:nvSpPr>
          <p:cNvPr id="87" name="Google Shape;87;p19"/>
          <p:cNvSpPr txBox="1"/>
          <p:nvPr>
            <p:ph idx="4294967295"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Positive</a:t>
            </a:r>
            <a:r>
              <a:rPr lang="en"/>
              <a:t> reappraisal</a:t>
            </a:r>
            <a:endParaRPr/>
          </a:p>
        </p:txBody>
      </p:sp>
      <p:pic>
        <p:nvPicPr>
          <p:cNvPr descr="“Cognitive reappraisal is a promising type of emotion regulation because it is a particularly effective strategy for down-regulating negative emotion” (Troy et al., 2010)&#10;6d" id="88" name="Google Shape;88;p19" title="The value of positive reappraisal, and how you can practice">
            <a:hlinkClick r:id="rId3"/>
          </p:cNvPr>
          <p:cNvPicPr preferRelativeResize="0"/>
          <p:nvPr/>
        </p:nvPicPr>
        <p:blipFill>
          <a:blip r:embed="rId4">
            <a:alphaModFix/>
          </a:blip>
          <a:stretch>
            <a:fillRect/>
          </a:stretch>
        </p:blipFill>
        <p:spPr>
          <a:xfrm>
            <a:off x="2626116" y="2568076"/>
            <a:ext cx="7560000" cy="567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